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4" r:id="rId6"/>
    <p:sldId id="906" r:id="rId7"/>
    <p:sldId id="909" r:id="rId8"/>
    <p:sldId id="907" r:id="rId9"/>
    <p:sldId id="90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2" qsCatId="3D" csTypeId="urn:microsoft.com/office/officeart/2005/8/colors/colorful1#2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2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803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 October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 October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 October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August 13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469007"/>
              </p:ext>
            </p:extLst>
          </p:nvPr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A.Sharvani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2420090052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K.Anjali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2420030170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M.Vinusha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- 2420030212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C3D7-1A78-437F-8E79-FA9F45001D93}" type="datetime3">
              <a:rPr lang="en-US" b="1" smtClean="0"/>
              <a:t>1 October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RTOS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dirty="0">
                <a:solidFill>
                  <a:schemeClr val="bg1"/>
                </a:solidFill>
              </a:rPr>
              <a:t>Edge AI Predictive Maintenance Controller for Industry</a:t>
            </a:r>
            <a:b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5.0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RTOS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BBD2AD-CA4B-40B7-B7F6-5A567EB7E4C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 October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Ph.D. Viva Voce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047999" y="2993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5D3D15-C7B2-CCD4-664B-297E59940D83}"/>
              </a:ext>
            </a:extLst>
          </p:cNvPr>
          <p:cNvSpPr txBox="1"/>
          <p:nvPr/>
        </p:nvSpPr>
        <p:spPr>
          <a:xfrm>
            <a:off x="1056966" y="1438034"/>
            <a:ext cx="1007806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In Industry 5.0, machines continuously generate data such as </a:t>
            </a:r>
            <a:r>
              <a:rPr lang="en-IN" sz="2400" b="1" dirty="0"/>
              <a:t>temperature, vibration, and current</a:t>
            </a:r>
            <a:r>
              <a:rPr lang="en-IN" sz="2400" dirty="0"/>
              <a:t>. If abnormal changes in these values are not detected in time, they can cause machine failures, production delays, and increased maintenance costs.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The </a:t>
            </a:r>
            <a:r>
              <a:rPr lang="en-IN" sz="2400" b="1" dirty="0"/>
              <a:t>Edge AI Predictive Maintenance Controller</a:t>
            </a:r>
            <a:r>
              <a:rPr lang="en-IN" sz="2400" dirty="0"/>
              <a:t> aims to solve this problem by monitoring machine data in real time and predicting possible failures before they happen. </a:t>
            </a:r>
            <a:r>
              <a:rPr lang="en-IN" sz="2400" b="1" dirty="0"/>
              <a:t>Python and TensorFlow Lite</a:t>
            </a:r>
            <a:r>
              <a:rPr lang="en-IN" sz="2400" dirty="0"/>
              <a:t> will be used for data processing and the AI model, while </a:t>
            </a:r>
            <a:r>
              <a:rPr lang="en-IN" sz="2400" b="1" dirty="0"/>
              <a:t>MQTT</a:t>
            </a:r>
            <a:r>
              <a:rPr lang="en-IN" sz="2400" dirty="0"/>
              <a:t> will transfer sensor data between system components. </a:t>
            </a:r>
            <a:r>
              <a:rPr lang="en-IN" sz="2400" b="1" dirty="0"/>
              <a:t>RT-Linux</a:t>
            </a:r>
            <a:r>
              <a:rPr lang="en-IN" sz="2400" dirty="0"/>
              <a:t> will support real-time processing.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 </a:t>
            </a:r>
            <a:r>
              <a:rPr lang="en-IN" sz="2400" b="1" dirty="0"/>
              <a:t>Docker</a:t>
            </a:r>
            <a:r>
              <a:rPr lang="en-IN" sz="2400" dirty="0"/>
              <a:t> will provide a consistent software environment, and </a:t>
            </a:r>
            <a:r>
              <a:rPr lang="en-IN" sz="2400" b="1" dirty="0"/>
              <a:t>Grafana</a:t>
            </a:r>
            <a:r>
              <a:rPr lang="en-IN" sz="2400" dirty="0"/>
              <a:t> will display machine conditions and prediction results through a dashboard.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D35F7-C011-19BA-BBDC-7F1009171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              Objectives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26297-07A9-5CBB-A053-561B0EA5D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70574" cy="435133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dirty="0"/>
              <a:t>To simulate temperature, vibration, and current sensor data from industrial machines. </a:t>
            </a:r>
          </a:p>
          <a:p>
            <a:pPr lvl="0"/>
            <a:r>
              <a:rPr lang="en-IN" dirty="0"/>
              <a:t>To monitor machine conditions in real time using RTOS concepts. </a:t>
            </a:r>
          </a:p>
          <a:p>
            <a:pPr lvl="0"/>
            <a:r>
              <a:rPr lang="en-IN" dirty="0"/>
              <a:t>To implement task scheduling and prioritization for timely sensor-data processing. </a:t>
            </a:r>
          </a:p>
          <a:p>
            <a:pPr lvl="0"/>
            <a:r>
              <a:rPr lang="en-IN" dirty="0"/>
              <a:t>To use AI/ML techniques to detect abnormal machine </a:t>
            </a:r>
            <a:r>
              <a:rPr lang="en-IN" dirty="0" err="1"/>
              <a:t>behavior</a:t>
            </a:r>
            <a:r>
              <a:rPr lang="en-IN" dirty="0"/>
              <a:t> and predict possible failures. </a:t>
            </a:r>
          </a:p>
          <a:p>
            <a:pPr lvl="0"/>
            <a:r>
              <a:rPr lang="en-IN" dirty="0"/>
              <a:t>To use queues, semaphores, and mutexes for communication and synchronization between RTOS tasks. </a:t>
            </a:r>
          </a:p>
          <a:p>
            <a:pPr lvl="0"/>
            <a:r>
              <a:rPr lang="en-IN" dirty="0"/>
              <a:t>To generate early maintenance alerts to reduce machine failures, downtime, and maintenance costs.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D01F9B-14DE-F8CE-ABAE-CF7B4CF3F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-1"/>
            <a:ext cx="1942620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624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1A2C6-36C4-2BB9-85F4-33E4EB092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</a:t>
            </a:r>
            <a:r>
              <a:rPr lang="en-US" b="1" dirty="0"/>
              <a:t>Innovation, Creativity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A3388-0273-3043-5E15-C7A18D8EF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IN" dirty="0"/>
              <a:t>Combines Edge AI and RTOS to support faster and real-time machine condition monitoring. </a:t>
            </a:r>
          </a:p>
          <a:p>
            <a:pPr lvl="0"/>
            <a:r>
              <a:rPr lang="en-IN" dirty="0"/>
              <a:t>Uses temperature, vibration, and current data together instead of depending on a single sensor. </a:t>
            </a:r>
          </a:p>
          <a:p>
            <a:pPr lvl="0"/>
            <a:r>
              <a:rPr lang="en-IN" dirty="0"/>
              <a:t>Uses RTOS task scheduling and priorities to process sensor data within the required time. </a:t>
            </a:r>
          </a:p>
          <a:p>
            <a:pPr lvl="0"/>
            <a:r>
              <a:rPr lang="en-IN" dirty="0"/>
              <a:t>Uses local Edge AI processing to reduce dependence on cloud-based decision-making. </a:t>
            </a:r>
          </a:p>
          <a:p>
            <a:pPr lvl="0"/>
            <a:r>
              <a:rPr lang="en-IN" dirty="0"/>
              <a:t>Provides early maintenance alerts by detecting abnormal machine conditions before major failure. </a:t>
            </a:r>
          </a:p>
          <a:p>
            <a:pPr lvl="0"/>
            <a:r>
              <a:rPr lang="en-IN" dirty="0"/>
              <a:t>The system is software-based and simulation-driven, making it low-cost, safe, and easy to test without physical industrial equipment.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800DAB-F898-4D12-66A5-3F43EE5D9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-1"/>
            <a:ext cx="1942620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610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EC7B8-50B3-8096-F85B-6BFAEDDEF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</a:t>
            </a:r>
            <a:r>
              <a:rPr lang="en-IN" b="1" dirty="0"/>
              <a:t>Novelty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B4639-F248-CE1F-BA30-D556422E9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683" y="1779797"/>
            <a:ext cx="10515600" cy="4872212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Machine-Failure Prediction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Uses a Random Forest machine-learning model to predict potential machine failure.</a:t>
            </a:r>
          </a:p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Multiple Machine Parameters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Uses temperature, rotational speed, torque, and tool-wear-related parameters together for machine-condition analysis.</a:t>
            </a:r>
          </a:p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Failure Probability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Instead of showing only a failure/non-failure result, the system provides the estimated failure probability.</a:t>
            </a:r>
          </a:p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Machine Health Score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Converts the prediction into an understandable machine-health indication.</a:t>
            </a:r>
          </a:p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Three-Level Condition Classification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The system presents machine condition as:</a:t>
            </a:r>
          </a:p>
          <a:p>
            <a:pPr lvl="1"/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NORMAL</a:t>
            </a:r>
          </a:p>
          <a:p>
            <a:pPr lvl="1"/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WARNING</a:t>
            </a:r>
          </a:p>
          <a:p>
            <a:pPr lvl="1"/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CRITICAL</a:t>
            </a:r>
          </a:p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Explainable AI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Feature importance helps users understand which machine parameters contribute most to the prediction.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034E16-814B-B3AB-319B-475A269A2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-1"/>
            <a:ext cx="1942620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178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49AC4-1F5F-E0B0-2936-63238BFCF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210" y="75051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       </a:t>
            </a:r>
            <a:r>
              <a:rPr lang="en-US" b="1" dirty="0"/>
              <a:t>Feasibility</a:t>
            </a:r>
            <a:br>
              <a:rPr lang="en-US" b="1" dirty="0"/>
            </a:br>
            <a:br>
              <a:rPr lang="en-US" b="1" dirty="0">
                <a:solidFill>
                  <a:srgbClr val="FF0000"/>
                </a:solidFill>
              </a:rPr>
            </a:b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779F0-DD17-AE3C-171F-FD935581D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0478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Technical Feasibility</a:t>
            </a:r>
            <a:endParaRPr lang="en-IN" dirty="0"/>
          </a:p>
          <a:p>
            <a:pPr lvl="0"/>
            <a:r>
              <a:rPr lang="en-IN" dirty="0"/>
              <a:t>The project can be developed using RTOS concepts and a software simulation environment.</a:t>
            </a:r>
          </a:p>
          <a:p>
            <a:pPr lvl="0"/>
            <a:r>
              <a:rPr lang="en-IN" dirty="0"/>
              <a:t>Temperature, vibration, and current values can be simulated as sensor data.</a:t>
            </a:r>
          </a:p>
          <a:p>
            <a:pPr lvl="0"/>
            <a:r>
              <a:rPr lang="en-IN" dirty="0"/>
              <a:t>Python and AI/ML techniques can be used for data processing and failure prediction.</a:t>
            </a:r>
          </a:p>
          <a:p>
            <a:pPr lvl="0"/>
            <a:r>
              <a:rPr lang="en-IN" dirty="0"/>
              <a:t>The system can be tested without physical industrial hardware.</a:t>
            </a:r>
          </a:p>
          <a:p>
            <a:pPr marL="0" indent="0">
              <a:buNone/>
            </a:pPr>
            <a:r>
              <a:rPr lang="en-IN" b="1" dirty="0"/>
              <a:t>2. Economic Feasibility</a:t>
            </a:r>
            <a:endParaRPr lang="en-IN" dirty="0"/>
          </a:p>
          <a:p>
            <a:pPr lvl="0"/>
            <a:r>
              <a:rPr lang="en-IN" dirty="0"/>
              <a:t>No additional cost is required for physical sensors, motors, or microcontrollers.</a:t>
            </a:r>
          </a:p>
          <a:p>
            <a:pPr lvl="0"/>
            <a:r>
              <a:rPr lang="en-IN" dirty="0"/>
              <a:t>Open-source software and tools can be used for RTOS simulation and ML development.</a:t>
            </a:r>
          </a:p>
          <a:p>
            <a:pPr lvl="0"/>
            <a:r>
              <a:rPr lang="en-IN" dirty="0"/>
              <a:t>The project can be developed using an existing computer, making it low-cost.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A478DE-BA54-6AB5-45D2-5C3950984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99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DA04B-24BA-D912-07F0-42BB20174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</a:t>
            </a:r>
            <a:r>
              <a:rPr lang="en-IN" b="1" dirty="0"/>
              <a:t>Oriented with Societal Needs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EE22B-1896-048E-01E0-8431D4777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084"/>
            <a:ext cx="10515600" cy="462087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2900" b="1" dirty="0"/>
              <a:t>Industry Need</a:t>
            </a:r>
          </a:p>
          <a:p>
            <a:r>
              <a:rPr lang="en-IN" sz="2900" dirty="0"/>
              <a:t>Industrial equipment failure can lead to:</a:t>
            </a:r>
          </a:p>
          <a:p>
            <a:pPr lvl="0"/>
            <a:r>
              <a:rPr lang="en-IN" sz="2900" dirty="0"/>
              <a:t>Unexpected machine downtime</a:t>
            </a:r>
          </a:p>
          <a:p>
            <a:pPr lvl="0"/>
            <a:r>
              <a:rPr lang="en-IN" sz="2900" dirty="0"/>
              <a:t>Production interruption</a:t>
            </a:r>
          </a:p>
          <a:p>
            <a:pPr lvl="0"/>
            <a:r>
              <a:rPr lang="en-IN" sz="2900" dirty="0"/>
              <a:t>Increased maintenance costs</a:t>
            </a:r>
          </a:p>
          <a:p>
            <a:pPr lvl="0"/>
            <a:r>
              <a:rPr lang="en-IN" sz="2900" dirty="0"/>
              <a:t>Equipment damage</a:t>
            </a:r>
          </a:p>
          <a:p>
            <a:pPr lvl="0"/>
            <a:r>
              <a:rPr lang="en-IN" sz="2900" dirty="0"/>
              <a:t>Reduced productivity</a:t>
            </a:r>
          </a:p>
          <a:p>
            <a:pPr marL="0" indent="0">
              <a:buNone/>
            </a:pPr>
            <a:r>
              <a:rPr lang="en-IN" sz="2900" dirty="0"/>
              <a:t>The proposed system addresses these needs by using machine-learning-based predictive maintenance to identify possible machine failures before maintenance decisions are made.</a:t>
            </a:r>
          </a:p>
          <a:p>
            <a:pPr marL="0" indent="0">
              <a:buNone/>
            </a:pPr>
            <a:endParaRPr lang="en-IN" sz="2900" dirty="0"/>
          </a:p>
          <a:p>
            <a:pPr marL="0" indent="0">
              <a:buNone/>
            </a:pPr>
            <a:r>
              <a:rPr lang="en-IN" sz="2900" b="1" dirty="0"/>
              <a:t>Human-</a:t>
            </a:r>
            <a:r>
              <a:rPr lang="en-IN" sz="2900" b="1" dirty="0" err="1"/>
              <a:t>Centered</a:t>
            </a:r>
            <a:r>
              <a:rPr lang="en-IN" sz="2900" b="1" dirty="0"/>
              <a:t> Approach</a:t>
            </a:r>
          </a:p>
          <a:p>
            <a:pPr marL="0" indent="0">
              <a:buNone/>
            </a:pPr>
            <a:r>
              <a:rPr lang="en-IN" sz="2900" dirty="0"/>
              <a:t>The system is designed to support maintenance personnel rather than replace human decision-making.</a:t>
            </a:r>
          </a:p>
          <a:p>
            <a:pPr marL="0" indent="0">
              <a:buNone/>
            </a:pPr>
            <a:r>
              <a:rPr lang="en-IN" sz="2900" dirty="0"/>
              <a:t>It provides:</a:t>
            </a:r>
          </a:p>
          <a:p>
            <a:r>
              <a:rPr lang="en-IN" sz="2900" dirty="0"/>
              <a:t>Failure prediction</a:t>
            </a:r>
          </a:p>
          <a:p>
            <a:pPr lvl="0"/>
            <a:r>
              <a:rPr lang="en-IN" sz="2900" dirty="0"/>
              <a:t>Failure probability</a:t>
            </a:r>
          </a:p>
          <a:p>
            <a:pPr lvl="0"/>
            <a:r>
              <a:rPr lang="en-IN" sz="2900" dirty="0"/>
              <a:t>Machine health score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C52CFB-37E2-3A4D-DCD8-33B18D1CC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796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687</Words>
  <Application>Microsoft Office PowerPoint</Application>
  <PresentationFormat>Widescreen</PresentationFormat>
  <Paragraphs>98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                                    Objectives </vt:lpstr>
      <vt:lpstr>                   Innovation, Creativity </vt:lpstr>
      <vt:lpstr>                             Novelty of the Project</vt:lpstr>
      <vt:lpstr>               Feasibility   </vt:lpstr>
      <vt:lpstr>            Oriented with Societal Needs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Vinusha 2420030212</cp:lastModifiedBy>
  <cp:revision>34</cp:revision>
  <dcterms:created xsi:type="dcterms:W3CDTF">2026-08-08T06:33:56Z</dcterms:created>
  <dcterms:modified xsi:type="dcterms:W3CDTF">2026-10-01T06:13:45Z</dcterms:modified>
</cp:coreProperties>
</file>